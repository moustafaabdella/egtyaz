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60" r:id="rId2"/>
    <p:sldMasterId id="2147483672" r:id="rId3"/>
  </p:sldMasterIdLst>
  <p:notesMasterIdLst>
    <p:notesMasterId r:id="rId24"/>
  </p:notesMasterIdLst>
  <p:sldIdLst>
    <p:sldId id="265" r:id="rId4"/>
    <p:sldId id="281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07" r:id="rId18"/>
    <p:sldId id="314" r:id="rId19"/>
    <p:sldId id="315" r:id="rId20"/>
    <p:sldId id="313" r:id="rId21"/>
    <p:sldId id="312" r:id="rId22"/>
    <p:sldId id="306" r:id="rId23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500" autoAdjust="0"/>
    <p:restoredTop sz="94660"/>
  </p:normalViewPr>
  <p:slideViewPr>
    <p:cSldViewPr>
      <p:cViewPr varScale="1">
        <p:scale>
          <a:sx n="63" d="100"/>
          <a:sy n="63" d="100"/>
        </p:scale>
        <p:origin x="150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99A1122-2012-4F2C-9F9E-61B37E106709}" type="datetimeFigureOut">
              <a:rPr lang="ar-SA" smtClean="0"/>
              <a:t>16/05/1446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938CB5F2-F542-4836-A85B-C90783F2214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20801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 smtClean="0"/>
              <a:t>انقر لتحرير نمط العنوان الثانوي الرئيسي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16/05/1446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16/05/1446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16/05/1446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16/05/1446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16/05/1446</a:t>
            </a:fld>
            <a:endParaRPr lang="ar-SA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16/05/1446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16/05/1446</a:t>
            </a:fld>
            <a:endParaRPr lang="ar-SA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16/05/1446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16/05/1446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16/05/1446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16/05/1446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 smtClean="0"/>
              <a:t>انقر لتحرير نمط العنوان الثانوي الرئيسي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022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22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78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737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1454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49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61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28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31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48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82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 smtClean="0"/>
              <a:t>انقر لتحرير نمط العنوان الثانوي الرئيسي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17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72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196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732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185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627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356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82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11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08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694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blipFill dpi="0" rotWithShape="1">
          <a:blip r:embed="rId13">
            <a:alphaModFix amt="15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ABB09-4A1D-463E-8065-109CC2B7EFAA}" type="datetimeFigureOut">
              <a:rPr lang="ar-SA" smtClean="0"/>
              <a:t>16/05/1446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blipFill dpi="0" rotWithShape="1">
          <a:blip r:embed="rId13">
            <a:alphaModFix amt="15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461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blipFill dpi="0" rotWithShape="1">
          <a:blip r:embed="rId13">
            <a:alphaModFix amt="15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16/05/1446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84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8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590" y="1124744"/>
            <a:ext cx="4464496" cy="42484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203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2269684" y="6207305"/>
            <a:ext cx="4678580" cy="40687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منصة اجتياز التعليمية  /   </a:t>
            </a:r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</a:rPr>
              <a:t>0536109848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5554332"/>
            <a:ext cx="1146998" cy="1224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19" y="5518328"/>
            <a:ext cx="1152128" cy="12961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مستطيل مستدير الزوايا 2"/>
          <p:cNvSpPr/>
          <p:nvPr/>
        </p:nvSpPr>
        <p:spPr>
          <a:xfrm>
            <a:off x="6948264" y="260648"/>
            <a:ext cx="2034830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التحصيلي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260648"/>
            <a:ext cx="1899447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قسم الفيزياء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3131841" y="260648"/>
            <a:ext cx="3024336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مدخل </a:t>
            </a:r>
            <a:r>
              <a:rPr lang="ar-SA" sz="2800" b="1" dirty="0" smtClean="0"/>
              <a:t>إلى </a:t>
            </a:r>
            <a:r>
              <a:rPr lang="ar-SA" sz="2800" b="1" dirty="0" smtClean="0"/>
              <a:t>علم الفيزياء</a:t>
            </a:r>
            <a:endParaRPr lang="ar-SA" sz="2800" b="1" dirty="0"/>
          </a:p>
        </p:txBody>
      </p:sp>
      <p:sp>
        <p:nvSpPr>
          <p:cNvPr id="4" name="Rectangle 3"/>
          <p:cNvSpPr/>
          <p:nvPr/>
        </p:nvSpPr>
        <p:spPr>
          <a:xfrm>
            <a:off x="1" y="1124745"/>
            <a:ext cx="9001760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600"/>
              </a:spcBef>
              <a:buSzPts val="1300"/>
              <a:tabLst>
                <a:tab pos="228600" algn="l"/>
              </a:tabLst>
            </a:pPr>
            <a:r>
              <a:rPr lang="ar-EG" sz="4000" b="1" dirty="0">
                <a:solidFill>
                  <a:srgbClr val="0070C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فرع من فروع العلم يعنى بدراسة الطاقة والمادة وكيفية ارتباطهما</a:t>
            </a:r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 </a:t>
            </a:r>
            <a:r>
              <a:rPr lang="en-US" sz="4000" b="1" dirty="0" smtClean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...</a:t>
            </a:r>
            <a:endParaRPr lang="ar-SA" sz="4000" b="1" dirty="0" smtClean="0">
              <a:solidFill>
                <a:srgbClr val="0070C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342900" lvl="0" indent="-342900">
              <a:spcBef>
                <a:spcPts val="600"/>
              </a:spcBef>
              <a:buSzPts val="1300"/>
              <a:buFont typeface="+mj-lt"/>
              <a:buAutoNum type="arabicParenR"/>
              <a:tabLst>
                <a:tab pos="228600" algn="l"/>
              </a:tabLs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ar-EG" sz="2800" b="1" dirty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(  </a:t>
            </a:r>
            <a:r>
              <a:rPr lang="en-US" sz="2800" b="1" dirty="0">
                <a:latin typeface="Calibri" panose="020F0502020204030204" pitchFamily="34" charset="0"/>
                <a:ea typeface="SimSun" panose="02010600030101010101" pitchFamily="2" charset="-122"/>
              </a:rPr>
              <a:t>A</a:t>
            </a:r>
            <a:r>
              <a:rPr lang="ar-EG" sz="2800" b="1" dirty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  )</a:t>
            </a:r>
            <a:r>
              <a:rPr lang="ar-EG" sz="2800" b="1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 الكيمياء</a:t>
            </a:r>
            <a:r>
              <a:rPr lang="ar-EG" sz="2800" b="1" dirty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ar-SA" sz="2800" b="1" dirty="0" smtClean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    </a:t>
            </a:r>
            <a:r>
              <a:rPr lang="ar-EG" sz="2800" b="1" dirty="0" smtClean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( </a:t>
            </a:r>
            <a:r>
              <a:rPr lang="en-US" sz="2800" b="1" dirty="0">
                <a:latin typeface="Calibri" panose="020F0502020204030204" pitchFamily="34" charset="0"/>
                <a:ea typeface="SimSun" panose="02010600030101010101" pitchFamily="2" charset="-122"/>
              </a:rPr>
              <a:t>B</a:t>
            </a:r>
            <a:r>
              <a:rPr lang="ar-EG" sz="2800" b="1" dirty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 ) </a:t>
            </a:r>
            <a:r>
              <a:rPr lang="ar-EG" sz="2800" b="1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الأحياء</a:t>
            </a:r>
            <a:r>
              <a:rPr lang="ar-EG" sz="2800" b="1" dirty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ar-SA" sz="2800" b="1" dirty="0" smtClean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     </a:t>
            </a:r>
            <a:r>
              <a:rPr lang="ar-EG" sz="2800" b="1" dirty="0" smtClean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( </a:t>
            </a:r>
            <a:r>
              <a:rPr lang="en-US" sz="2800" b="1" dirty="0">
                <a:latin typeface="Calibri" panose="020F0502020204030204" pitchFamily="34" charset="0"/>
                <a:ea typeface="SimSun" panose="02010600030101010101" pitchFamily="2" charset="-122"/>
              </a:rPr>
              <a:t>C</a:t>
            </a:r>
            <a:r>
              <a:rPr lang="ar-EG" sz="2800" b="1" dirty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 ) </a:t>
            </a:r>
            <a:r>
              <a:rPr lang="ar-EG" sz="2800" b="1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الفيزياء</a:t>
            </a:r>
            <a:r>
              <a:rPr lang="ar-EG" sz="2800" b="1" dirty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ar-SA" sz="2800" b="1" dirty="0" smtClean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    </a:t>
            </a:r>
            <a:r>
              <a:rPr lang="ar-EG" sz="2800" b="1" dirty="0" smtClean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(  </a:t>
            </a:r>
            <a:r>
              <a:rPr lang="en-US" sz="2800" b="1" dirty="0">
                <a:latin typeface="Calibri" panose="020F0502020204030204" pitchFamily="34" charset="0"/>
                <a:ea typeface="SimSun" panose="02010600030101010101" pitchFamily="2" charset="-122"/>
              </a:rPr>
              <a:t>D</a:t>
            </a:r>
            <a:r>
              <a:rPr lang="ar-EG" sz="2800" b="1" dirty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  ) </a:t>
            </a:r>
            <a:r>
              <a:rPr lang="ar-EG" sz="2800" b="1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الجيولوجيا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ar-SA" sz="3600" dirty="0"/>
          </a:p>
        </p:txBody>
      </p:sp>
    </p:spTree>
    <p:extLst>
      <p:ext uri="{BB962C8B-B14F-4D97-AF65-F5344CB8AC3E}">
        <p14:creationId xmlns:p14="http://schemas.microsoft.com/office/powerpoint/2010/main" val="77760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2269684" y="6207305"/>
            <a:ext cx="4678580" cy="40687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منصة اجتياز التعليمية  /   </a:t>
            </a:r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</a:rPr>
              <a:t>0536109848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5554332"/>
            <a:ext cx="1146998" cy="1224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19" y="5518328"/>
            <a:ext cx="1152128" cy="12961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مستطيل مستدير الزوايا 2"/>
          <p:cNvSpPr/>
          <p:nvPr/>
        </p:nvSpPr>
        <p:spPr>
          <a:xfrm>
            <a:off x="6948264" y="260648"/>
            <a:ext cx="2034830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التحصيلي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260648"/>
            <a:ext cx="1899447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قسم الفيزياء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3131841" y="260648"/>
            <a:ext cx="3024336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مدخل </a:t>
            </a:r>
            <a:r>
              <a:rPr lang="ar-SA" sz="2800" b="1" dirty="0" smtClean="0"/>
              <a:t>إلى </a:t>
            </a:r>
            <a:r>
              <a:rPr lang="ar-SA" sz="2800" b="1" dirty="0" smtClean="0"/>
              <a:t>علم الفيزياء</a:t>
            </a:r>
            <a:endParaRPr lang="ar-SA" sz="2800" b="1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56" y="980728"/>
            <a:ext cx="8709035" cy="223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473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2269684" y="6207305"/>
            <a:ext cx="4678580" cy="40687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منصة اجتياز التعليمية  /   </a:t>
            </a:r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</a:rPr>
              <a:t>0536109848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5554332"/>
            <a:ext cx="1146998" cy="1224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19" y="5518328"/>
            <a:ext cx="1152128" cy="12961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مستطيل مستدير الزوايا 2"/>
          <p:cNvSpPr/>
          <p:nvPr/>
        </p:nvSpPr>
        <p:spPr>
          <a:xfrm>
            <a:off x="6948264" y="260648"/>
            <a:ext cx="2034830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التحصيلي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260648"/>
            <a:ext cx="1899447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قسم الفيزياء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3131841" y="260648"/>
            <a:ext cx="3024336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مدخل </a:t>
            </a:r>
            <a:r>
              <a:rPr lang="ar-SA" sz="2800" b="1" dirty="0" smtClean="0"/>
              <a:t>إلى </a:t>
            </a:r>
            <a:r>
              <a:rPr lang="ar-SA" sz="2800" b="1" dirty="0" smtClean="0"/>
              <a:t>علم الفيزياء</a:t>
            </a:r>
            <a:endParaRPr lang="ar-SA" sz="2800" b="1" dirty="0"/>
          </a:p>
        </p:txBody>
      </p:sp>
      <p:sp>
        <p:nvSpPr>
          <p:cNvPr id="4" name="Rectangle 3"/>
          <p:cNvSpPr/>
          <p:nvPr/>
        </p:nvSpPr>
        <p:spPr>
          <a:xfrm>
            <a:off x="1" y="1124745"/>
            <a:ext cx="900176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600"/>
              </a:spcBef>
              <a:buSzPts val="1300"/>
              <a:buFont typeface="+mj-lt"/>
              <a:buAutoNum type="arabicParenR"/>
              <a:tabLst>
                <a:tab pos="228600" algn="l"/>
              </a:tabLst>
            </a:pPr>
            <a:r>
              <a:rPr lang="ar-EG" sz="4400" b="1" dirty="0">
                <a:solidFill>
                  <a:srgbClr val="0070C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الطاقة لا تفنى تستحدث من العدم. تمثل</a:t>
            </a:r>
            <a:r>
              <a:rPr lang="en-US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 </a:t>
            </a:r>
            <a:r>
              <a:rPr lang="en-US" sz="4400" b="1" dirty="0" smtClean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....</a:t>
            </a:r>
            <a:endParaRPr lang="ar-SA" sz="4400" b="1" dirty="0" smtClean="0">
              <a:solidFill>
                <a:srgbClr val="0070C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342900" lvl="0" indent="-342900">
              <a:spcBef>
                <a:spcPts val="600"/>
              </a:spcBef>
              <a:buSzPts val="1300"/>
              <a:buFont typeface="+mj-lt"/>
              <a:buAutoNum type="arabicParenR"/>
              <a:tabLst>
                <a:tab pos="228600" algn="l"/>
              </a:tabLst>
            </a:pP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4000" b="1" dirty="0">
                <a:latin typeface="Calibri" panose="020F0502020204030204" pitchFamily="34" charset="0"/>
                <a:ea typeface="SimSun" panose="02010600030101010101" pitchFamily="2" charset="-122"/>
              </a:rPr>
              <a:t> </a:t>
            </a:r>
            <a:r>
              <a:rPr lang="ar-EG" sz="3200" b="1" dirty="0">
                <a:latin typeface="Calibri" panose="020F0502020204030204" pitchFamily="34" charset="0"/>
                <a:ea typeface="SimSun" panose="02010600030101010101" pitchFamily="2" charset="-122"/>
              </a:rPr>
              <a:t> (  </a:t>
            </a:r>
            <a:r>
              <a:rPr lang="en-US" sz="3200" b="1" dirty="0">
                <a:latin typeface="Calibri" panose="020F0502020204030204" pitchFamily="34" charset="0"/>
                <a:ea typeface="SimSun" panose="02010600030101010101" pitchFamily="2" charset="-122"/>
              </a:rPr>
              <a:t>A</a:t>
            </a:r>
            <a:r>
              <a:rPr lang="ar-EG" sz="3200" b="1" dirty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 ) </a:t>
            </a:r>
            <a:r>
              <a:rPr lang="ar-EG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نظرية </a:t>
            </a:r>
            <a:r>
              <a:rPr 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    </a:t>
            </a:r>
            <a:r>
              <a:rPr lang="ar-EG" sz="3200" b="1" dirty="0" smtClean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( </a:t>
            </a:r>
            <a:r>
              <a:rPr lang="en-US" sz="3200" b="1" dirty="0">
                <a:latin typeface="Calibri" panose="020F0502020204030204" pitchFamily="34" charset="0"/>
                <a:ea typeface="SimSun" panose="02010600030101010101" pitchFamily="2" charset="-122"/>
              </a:rPr>
              <a:t>B</a:t>
            </a:r>
            <a:r>
              <a:rPr lang="ar-EG" sz="3200" b="1" dirty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 ) </a:t>
            </a:r>
            <a:r>
              <a:rPr lang="ar-EG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قانونا</a:t>
            </a:r>
            <a:r>
              <a:rPr lang="ar-EG" sz="3200" b="1" dirty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3200" b="1" dirty="0" smtClean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   </a:t>
            </a:r>
            <a:r>
              <a:rPr lang="ar-EG" sz="3200" b="1" dirty="0" smtClean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( </a:t>
            </a:r>
            <a:r>
              <a:rPr lang="en-US" sz="3200" b="1" dirty="0">
                <a:latin typeface="Calibri" panose="020F0502020204030204" pitchFamily="34" charset="0"/>
                <a:ea typeface="SimSun" panose="02010600030101010101" pitchFamily="2" charset="-122"/>
              </a:rPr>
              <a:t>C</a:t>
            </a:r>
            <a:r>
              <a:rPr lang="ar-EG" sz="3200" b="1" dirty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 ) </a:t>
            </a:r>
            <a:r>
              <a:rPr lang="ar-EG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استنتاجا </a:t>
            </a:r>
            <a:r>
              <a:rPr 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  </a:t>
            </a:r>
            <a:r>
              <a:rPr lang="ar-EG" sz="3200" b="1" dirty="0" smtClean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(  </a:t>
            </a:r>
            <a:r>
              <a:rPr lang="en-US" sz="3200" b="1" dirty="0">
                <a:latin typeface="Calibri" panose="020F0502020204030204" pitchFamily="34" charset="0"/>
                <a:ea typeface="SimSun" panose="02010600030101010101" pitchFamily="2" charset="-122"/>
              </a:rPr>
              <a:t>D</a:t>
            </a:r>
            <a:r>
              <a:rPr lang="ar-EG" sz="3200" b="1" dirty="0"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  ) </a:t>
            </a:r>
            <a:r>
              <a:rPr lang="ar-EG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فرضية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633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2269684" y="6207305"/>
            <a:ext cx="4678580" cy="40687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منصة اجتياز التعليمية  /   </a:t>
            </a:r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</a:rPr>
              <a:t>0536109848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5554332"/>
            <a:ext cx="1146998" cy="1224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19" y="5518328"/>
            <a:ext cx="1152128" cy="12961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مستطيل مستدير الزوايا 2"/>
          <p:cNvSpPr/>
          <p:nvPr/>
        </p:nvSpPr>
        <p:spPr>
          <a:xfrm>
            <a:off x="6948264" y="260648"/>
            <a:ext cx="2034830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التحصيلي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260648"/>
            <a:ext cx="1899447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قسم الفيزياء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3131841" y="260648"/>
            <a:ext cx="3024336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مدخل </a:t>
            </a:r>
            <a:r>
              <a:rPr lang="ar-SA" sz="2800" b="1" dirty="0" smtClean="0"/>
              <a:t>إلى </a:t>
            </a:r>
            <a:r>
              <a:rPr lang="ar-SA" sz="2800" b="1" dirty="0" smtClean="0"/>
              <a:t>علم الفيزياء</a:t>
            </a:r>
            <a:endParaRPr lang="ar-SA" sz="2800" b="1" dirty="0"/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521111"/>
              </p:ext>
            </p:extLst>
          </p:nvPr>
        </p:nvGraphicFramePr>
        <p:xfrm>
          <a:off x="26248" y="2726899"/>
          <a:ext cx="9021594" cy="1800199"/>
        </p:xfrm>
        <a:graphic>
          <a:graphicData uri="http://schemas.openxmlformats.org/drawingml/2006/table">
            <a:tbl>
              <a:tblPr rtl="1" firstRow="1" firstCol="1" lastRow="1" lastCol="1" bandRow="1" bandCol="1"/>
              <a:tblGrid>
                <a:gridCol w="4510797">
                  <a:extLst>
                    <a:ext uri="{9D8B030D-6E8A-4147-A177-3AD203B41FA5}">
                      <a16:colId xmlns:a16="http://schemas.microsoft.com/office/drawing/2014/main" val="696022223"/>
                    </a:ext>
                  </a:extLst>
                </a:gridCol>
                <a:gridCol w="4510797">
                  <a:extLst>
                    <a:ext uri="{9D8B030D-6E8A-4147-A177-3AD203B41FA5}">
                      <a16:colId xmlns:a16="http://schemas.microsoft.com/office/drawing/2014/main" val="1498325520"/>
                    </a:ext>
                  </a:extLst>
                </a:gridCol>
              </a:tblGrid>
              <a:tr h="715407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24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2400" b="1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lang="ar-EG" sz="24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)</a:t>
                      </a:r>
                      <a:r>
                        <a:rPr lang="ar-EG" sz="2800" b="1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ar-EG" sz="2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زيادة طول المسطرة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24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2400" b="1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lang="ar-EG" sz="24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)</a:t>
                      </a:r>
                      <a:r>
                        <a:rPr lang="ar-EG" sz="28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ar-EG" sz="2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تقليل طول المسطرة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952970"/>
                  </a:ext>
                </a:extLst>
              </a:tr>
              <a:tr h="1084792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24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2400" b="1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lang="ar-EG" sz="24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)</a:t>
                      </a:r>
                      <a:r>
                        <a:rPr lang="ar-EG" sz="28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ar-EG" sz="2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زيادة التدريجات في وحدة الطول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24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2400" b="1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</a:t>
                      </a:r>
                      <a:r>
                        <a:rPr lang="ar-EG" sz="24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)</a:t>
                      </a:r>
                      <a:r>
                        <a:rPr lang="ar-EG" sz="28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ar-EG" sz="2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تقليل التدريجات في وحدة الطول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28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742074"/>
                  </a:ext>
                </a:extLst>
              </a:tr>
            </a:tbl>
          </a:graphicData>
        </a:graphic>
      </p:graphicFrame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683569" y="1029198"/>
            <a:ext cx="792088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zh-CN" sz="40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الطريقة الصحيحة لزيادة دقة المسطرة في مصنع البلاستيك</a:t>
            </a:r>
            <a:r>
              <a:rPr kumimoji="0" lang="en-US" altLang="zh-CN" sz="40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...</a:t>
            </a:r>
            <a:endParaRPr kumimoji="0" lang="en-US" altLang="zh-CN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15659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2281364" y="6296889"/>
            <a:ext cx="4666791" cy="37162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منصة اجتياز التعليمية  /   </a:t>
            </a:r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</a:rPr>
              <a:t>0536109848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016" y="5714733"/>
            <a:ext cx="1144108" cy="1118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99" y="5684969"/>
            <a:ext cx="1149225" cy="11838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مستطيل مستدير الزوايا 2"/>
          <p:cNvSpPr/>
          <p:nvPr/>
        </p:nvSpPr>
        <p:spPr>
          <a:xfrm>
            <a:off x="6959944" y="355574"/>
            <a:ext cx="2029703" cy="42792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التحصيلي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81917" y="355574"/>
            <a:ext cx="1894661" cy="42792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قسم الفيزياء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3143521" y="355574"/>
            <a:ext cx="3016716" cy="42792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مدخل </a:t>
            </a:r>
            <a:r>
              <a:rPr lang="ar-SA" sz="2800" b="1" dirty="0" smtClean="0"/>
              <a:t>إلى </a:t>
            </a:r>
            <a:r>
              <a:rPr lang="ar-SA" sz="2800" b="1" dirty="0" smtClean="0"/>
              <a:t>علم الفيزياء</a:t>
            </a:r>
            <a:endParaRPr lang="ar-SA" sz="2800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703818"/>
              </p:ext>
            </p:extLst>
          </p:nvPr>
        </p:nvGraphicFramePr>
        <p:xfrm>
          <a:off x="349364" y="2780928"/>
          <a:ext cx="8284580" cy="1892808"/>
        </p:xfrm>
        <a:graphic>
          <a:graphicData uri="http://schemas.openxmlformats.org/drawingml/2006/table">
            <a:tbl>
              <a:tblPr rtl="1" firstRow="1" firstCol="1" lastRow="1" lastCol="1" bandRow="1" bandCol="1"/>
              <a:tblGrid>
                <a:gridCol w="4142290">
                  <a:extLst>
                    <a:ext uri="{9D8B030D-6E8A-4147-A177-3AD203B41FA5}">
                      <a16:colId xmlns:a16="http://schemas.microsoft.com/office/drawing/2014/main" val="3307250993"/>
                    </a:ext>
                  </a:extLst>
                </a:gridCol>
                <a:gridCol w="4142290">
                  <a:extLst>
                    <a:ext uri="{9D8B030D-6E8A-4147-A177-3AD203B41FA5}">
                      <a16:colId xmlns:a16="http://schemas.microsoft.com/office/drawing/2014/main" val="3875685319"/>
                    </a:ext>
                  </a:extLst>
                </a:gridCol>
              </a:tblGrid>
              <a:tr h="313091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 </a:t>
                      </a:r>
                      <a:r>
                        <a:rPr lang="en-US" sz="36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lang="ar-EG" sz="3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 )</a:t>
                      </a:r>
                      <a:r>
                        <a:rPr lang="ar-EG" sz="3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زاوية النظر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36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lang="ar-EG" sz="3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) </a:t>
                      </a:r>
                      <a:r>
                        <a:rPr lang="ar-EG" sz="3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معايرة النقطة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148049"/>
                  </a:ext>
                </a:extLst>
              </a:tr>
              <a:tr h="626182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36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lang="ar-EG" sz="3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) </a:t>
                      </a:r>
                      <a:r>
                        <a:rPr lang="ar-EG" sz="3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معايرة النقطتين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36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</a:t>
                      </a:r>
                      <a:r>
                        <a:rPr lang="ar-EG" sz="3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) </a:t>
                      </a:r>
                      <a:r>
                        <a:rPr lang="ar-EG" sz="3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تصفير الجهاز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 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9619738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00099" y="1097621"/>
            <a:ext cx="818311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zh-CN" sz="4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الطريقة الشائعة لاختبار ضبط جهاز تتم عن طريق</a:t>
            </a:r>
            <a:r>
              <a:rPr kumimoji="0" lang="en-US" altLang="zh-CN" sz="4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...</a:t>
            </a:r>
            <a:endParaRPr kumimoji="0" lang="en-US" altLang="zh-CN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70444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2269684" y="6207305"/>
            <a:ext cx="4678580" cy="40687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منصة اجتياز التعليمية  /   </a:t>
            </a:r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</a:rPr>
              <a:t>0536109848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5554332"/>
            <a:ext cx="1146998" cy="1224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19" y="5518328"/>
            <a:ext cx="1152128" cy="12961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مستطيل مستدير الزوايا 2"/>
          <p:cNvSpPr/>
          <p:nvPr/>
        </p:nvSpPr>
        <p:spPr>
          <a:xfrm>
            <a:off x="6948264" y="260648"/>
            <a:ext cx="2034830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التحصيلي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260648"/>
            <a:ext cx="1899447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قسم الفيزياء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3131841" y="260648"/>
            <a:ext cx="3024336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مدخل </a:t>
            </a:r>
            <a:r>
              <a:rPr lang="ar-SA" sz="2800" b="1" dirty="0" smtClean="0"/>
              <a:t>إلى </a:t>
            </a:r>
            <a:r>
              <a:rPr lang="ar-SA" sz="2800" b="1" dirty="0" smtClean="0"/>
              <a:t>علم الفيزياء</a:t>
            </a:r>
            <a:endParaRPr lang="ar-SA" sz="2800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821955"/>
              </p:ext>
            </p:extLst>
          </p:nvPr>
        </p:nvGraphicFramePr>
        <p:xfrm>
          <a:off x="-207980" y="1920824"/>
          <a:ext cx="8841444" cy="1510792"/>
        </p:xfrm>
        <a:graphic>
          <a:graphicData uri="http://schemas.openxmlformats.org/drawingml/2006/table">
            <a:tbl>
              <a:tblPr rtl="1" firstRow="1" firstCol="1" lastRow="1" lastCol="1" bandRow="1" bandCol="1"/>
              <a:tblGrid>
                <a:gridCol w="4420722">
                  <a:extLst>
                    <a:ext uri="{9D8B030D-6E8A-4147-A177-3AD203B41FA5}">
                      <a16:colId xmlns:a16="http://schemas.microsoft.com/office/drawing/2014/main" val="3883604485"/>
                    </a:ext>
                  </a:extLst>
                </a:gridCol>
                <a:gridCol w="4420722">
                  <a:extLst>
                    <a:ext uri="{9D8B030D-6E8A-4147-A177-3AD203B41FA5}">
                      <a16:colId xmlns:a16="http://schemas.microsoft.com/office/drawing/2014/main" val="4281326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0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 </a:t>
                      </a:r>
                      <a:r>
                        <a:rPr lang="en-US" sz="30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lang="ar-EG" sz="30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 )</a:t>
                      </a:r>
                      <a:r>
                        <a:rPr lang="ar-EG" sz="3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الجهد الكهربائي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0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3000" b="1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lang="ar-EG" sz="30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) </a:t>
                      </a:r>
                      <a:r>
                        <a:rPr lang="ar-EG" sz="3000" b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التسارع اللحظي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274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0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30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lang="ar-EG" sz="30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) </a:t>
                      </a:r>
                      <a:r>
                        <a:rPr lang="ar-EG" sz="3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شدة المجال الكهربائي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0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 </a:t>
                      </a:r>
                      <a:r>
                        <a:rPr lang="en-US" sz="30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</a:t>
                      </a:r>
                      <a:r>
                        <a:rPr lang="ar-EG" sz="30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 ) </a:t>
                      </a:r>
                      <a:r>
                        <a:rPr lang="ar-EG" sz="3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شدة المجال المغناطيسي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0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 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7382338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7496" y="966813"/>
            <a:ext cx="864096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zh-CN" sz="4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أي الكميات التالية كمية قياسية ؟</a:t>
            </a:r>
            <a:endParaRPr kumimoji="0" lang="en-US" altLang="zh-CN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406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2246864" y="6225433"/>
            <a:ext cx="4678580" cy="40687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منصة اجتياز التعليمية  /   </a:t>
            </a:r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</a:rPr>
              <a:t>0536109848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516" y="5572460"/>
            <a:ext cx="1146998" cy="1224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599" y="5536456"/>
            <a:ext cx="1152128" cy="12961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مستطيل مستدير الزوايا 2"/>
          <p:cNvSpPr/>
          <p:nvPr/>
        </p:nvSpPr>
        <p:spPr>
          <a:xfrm>
            <a:off x="6925444" y="278776"/>
            <a:ext cx="2034830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التحصيلي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47417" y="278776"/>
            <a:ext cx="1899447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قسم الفيزياء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3109021" y="278776"/>
            <a:ext cx="3024336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مدخل </a:t>
            </a:r>
            <a:r>
              <a:rPr lang="ar-SA" sz="2800" b="1" dirty="0" smtClean="0"/>
              <a:t>إلى </a:t>
            </a:r>
            <a:r>
              <a:rPr lang="ar-SA" sz="2800" b="1" dirty="0" smtClean="0"/>
              <a:t>علم الفيزياء</a:t>
            </a:r>
            <a:endParaRPr lang="ar-SA" sz="2800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464751"/>
              </p:ext>
            </p:extLst>
          </p:nvPr>
        </p:nvGraphicFramePr>
        <p:xfrm>
          <a:off x="0" y="2003050"/>
          <a:ext cx="8373100" cy="1313308"/>
        </p:xfrm>
        <a:graphic>
          <a:graphicData uri="http://schemas.openxmlformats.org/drawingml/2006/table">
            <a:tbl>
              <a:tblPr rtl="1" firstRow="1" firstCol="1" lastRow="1" lastCol="1" bandRow="1" bandCol="1"/>
              <a:tblGrid>
                <a:gridCol w="4186550">
                  <a:extLst>
                    <a:ext uri="{9D8B030D-6E8A-4147-A177-3AD203B41FA5}">
                      <a16:colId xmlns:a16="http://schemas.microsoft.com/office/drawing/2014/main" val="985923520"/>
                    </a:ext>
                  </a:extLst>
                </a:gridCol>
                <a:gridCol w="4186550">
                  <a:extLst>
                    <a:ext uri="{9D8B030D-6E8A-4147-A177-3AD203B41FA5}">
                      <a16:colId xmlns:a16="http://schemas.microsoft.com/office/drawing/2014/main" val="13490391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40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4000" b="1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lang="ar-EG" sz="40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) </a:t>
                      </a:r>
                      <a:r>
                        <a:rPr lang="ar-EG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الزمن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40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40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lang="ar-EG" sz="40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) </a:t>
                      </a:r>
                      <a:r>
                        <a:rPr lang="ar-EG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القوة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1620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40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4000" b="1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lang="ar-EG" sz="40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) </a:t>
                      </a:r>
                      <a:r>
                        <a:rPr lang="ar-EG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درجة الحرارة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40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4000" b="1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</a:t>
                      </a:r>
                      <a:r>
                        <a:rPr lang="ar-EG" sz="40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) </a:t>
                      </a:r>
                      <a:r>
                        <a:rPr lang="ar-EG" sz="4000" b="1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الحجم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451239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06168" y="1082385"/>
            <a:ext cx="778225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ar-EG" altLang="zh-CN" sz="4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الكميات التالية كميات قياسية عدا</a:t>
            </a:r>
            <a:r>
              <a:rPr kumimoji="0" lang="en-US" altLang="zh-CN" sz="4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...</a:t>
            </a:r>
            <a:endParaRPr kumimoji="0" lang="en-US" altLang="zh-CN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endParaRPr kumimoji="0" lang="en-US" altLang="zh-CN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492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2269684" y="6207305"/>
            <a:ext cx="4678580" cy="40687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منصة اجتياز التعليمية  /   </a:t>
            </a:r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</a:rPr>
              <a:t>0536109848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5554332"/>
            <a:ext cx="1146998" cy="1224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19" y="5518328"/>
            <a:ext cx="1152128" cy="12961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مستطيل مستدير الزوايا 2"/>
          <p:cNvSpPr/>
          <p:nvPr/>
        </p:nvSpPr>
        <p:spPr>
          <a:xfrm>
            <a:off x="6948264" y="260648"/>
            <a:ext cx="2034830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التحصيلي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260648"/>
            <a:ext cx="1899447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قسم الفيزياء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3131841" y="260648"/>
            <a:ext cx="3024336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مدخل </a:t>
            </a:r>
            <a:r>
              <a:rPr lang="ar-SA" sz="2800" b="1" dirty="0" smtClean="0"/>
              <a:t>إلى </a:t>
            </a:r>
            <a:r>
              <a:rPr lang="ar-SA" sz="2800" b="1" dirty="0" smtClean="0"/>
              <a:t>علم الفيزياء</a:t>
            </a:r>
            <a:endParaRPr lang="ar-SA" sz="2800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592607"/>
              </p:ext>
            </p:extLst>
          </p:nvPr>
        </p:nvGraphicFramePr>
        <p:xfrm>
          <a:off x="-1692696" y="2269085"/>
          <a:ext cx="10675790" cy="1121664"/>
        </p:xfrm>
        <a:graphic>
          <a:graphicData uri="http://schemas.openxmlformats.org/drawingml/2006/table">
            <a:tbl>
              <a:tblPr rtl="1" firstRow="1" firstCol="1" lastRow="1" lastCol="1" bandRow="1" bandCol="1"/>
              <a:tblGrid>
                <a:gridCol w="5145731">
                  <a:extLst>
                    <a:ext uri="{9D8B030D-6E8A-4147-A177-3AD203B41FA5}">
                      <a16:colId xmlns:a16="http://schemas.microsoft.com/office/drawing/2014/main" val="1292729826"/>
                    </a:ext>
                  </a:extLst>
                </a:gridCol>
                <a:gridCol w="5530059">
                  <a:extLst>
                    <a:ext uri="{9D8B030D-6E8A-4147-A177-3AD203B41FA5}">
                      <a16:colId xmlns:a16="http://schemas.microsoft.com/office/drawing/2014/main" val="4175591567"/>
                    </a:ext>
                  </a:extLst>
                </a:gridCol>
              </a:tblGrid>
              <a:tr h="390054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 </a:t>
                      </a:r>
                      <a:r>
                        <a:rPr lang="en-US" sz="32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 ) </a:t>
                      </a:r>
                      <a:r>
                        <a:rPr lang="ar-EG" sz="3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دفع عربة بقوة مقدارها </a:t>
                      </a:r>
                      <a:r>
                        <a:rPr lang="en-US" sz="32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70 </a:t>
                      </a:r>
                      <a:r>
                        <a:rPr lang="en-US" sz="32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N</a:t>
                      </a:r>
                      <a:endParaRPr lang="en-US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156600"/>
                  </a:ext>
                </a:extLst>
              </a:tr>
              <a:tr h="404906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3200" b="1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lang="ar-EG" sz="32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) </a:t>
                      </a:r>
                      <a:r>
                        <a:rPr lang="ar-EG" sz="3200" b="1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سيارة تسير بسرعة </a:t>
                      </a:r>
                      <a:r>
                        <a:rPr lang="en-US" sz="32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30 km/h</a:t>
                      </a:r>
                      <a:endParaRPr lang="en-US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8363018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108520" y="1188558"/>
            <a:ext cx="8983093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ar-EG" altLang="zh-CN" sz="4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أي الكميات التالية كمية متجهة ؟</a:t>
            </a:r>
            <a:endParaRPr kumimoji="0" lang="en-US" altLang="zh-CN" sz="11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934137"/>
              </p:ext>
            </p:extLst>
          </p:nvPr>
        </p:nvGraphicFramePr>
        <p:xfrm>
          <a:off x="-4638715" y="3374246"/>
          <a:ext cx="13621809" cy="2820858"/>
        </p:xfrm>
        <a:graphic>
          <a:graphicData uri="http://schemas.openxmlformats.org/drawingml/2006/table">
            <a:tbl>
              <a:tblPr rtl="1" firstRow="1" firstCol="1" lastRow="1" lastCol="1" bandRow="1" bandCol="1"/>
              <a:tblGrid>
                <a:gridCol w="6565711">
                  <a:extLst>
                    <a:ext uri="{9D8B030D-6E8A-4147-A177-3AD203B41FA5}">
                      <a16:colId xmlns:a16="http://schemas.microsoft.com/office/drawing/2014/main" val="1292729826"/>
                    </a:ext>
                  </a:extLst>
                </a:gridCol>
                <a:gridCol w="7056098">
                  <a:extLst>
                    <a:ext uri="{9D8B030D-6E8A-4147-A177-3AD203B41FA5}">
                      <a16:colId xmlns:a16="http://schemas.microsoft.com/office/drawing/2014/main" val="4175591567"/>
                    </a:ext>
                  </a:extLst>
                </a:gridCol>
              </a:tblGrid>
              <a:tr h="2470338"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32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3200" b="1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lang="ar-EG" sz="32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) </a:t>
                      </a:r>
                      <a:r>
                        <a:rPr lang="ar-EG" sz="3200" b="1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سباح قطع مسافة قدرها </a:t>
                      </a:r>
                      <a:r>
                        <a:rPr lang="en-US" sz="32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800 m</a:t>
                      </a:r>
                      <a:endParaRPr lang="en-US" sz="3200" dirty="0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marR="0" indent="0" algn="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3200" b="1" spc="-20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3200" b="1" spc="-20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</a:t>
                      </a:r>
                      <a:r>
                        <a:rPr lang="ar-EG" sz="3200" b="1" spc="-20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) </a:t>
                      </a:r>
                      <a:r>
                        <a:rPr lang="ar-EG" sz="3200" b="1" spc="-2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سقوط حجر رأسيا للأسفل بسرعة </a:t>
                      </a:r>
                      <a:r>
                        <a:rPr lang="en-US" sz="3200" b="1" spc="-2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 9 m /s</a:t>
                      </a:r>
                      <a:endParaRPr lang="en-US" sz="3200" dirty="0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156600"/>
                  </a:ext>
                </a:extLst>
              </a:tr>
              <a:tr h="33383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8363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93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2269684" y="6207305"/>
            <a:ext cx="4678580" cy="40687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منصة اجتياز التعليمية  /   </a:t>
            </a:r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</a:rPr>
              <a:t>0536109848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5554332"/>
            <a:ext cx="1146998" cy="1224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19" y="5518328"/>
            <a:ext cx="1152128" cy="12961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مستطيل مستدير الزوايا 2"/>
          <p:cNvSpPr/>
          <p:nvPr/>
        </p:nvSpPr>
        <p:spPr>
          <a:xfrm>
            <a:off x="6948264" y="260648"/>
            <a:ext cx="2034830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التحصيلي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260648"/>
            <a:ext cx="1899447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قسم الفيزياء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3131841" y="260648"/>
            <a:ext cx="3024336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مدخل </a:t>
            </a:r>
            <a:r>
              <a:rPr lang="ar-SA" sz="2800" b="1" dirty="0" smtClean="0"/>
              <a:t>إلى </a:t>
            </a:r>
            <a:r>
              <a:rPr lang="ar-SA" sz="2800" b="1" dirty="0" smtClean="0"/>
              <a:t>علم الفيزياء</a:t>
            </a:r>
            <a:endParaRPr lang="ar-SA" sz="2800" b="1" dirty="0"/>
          </a:p>
        </p:txBody>
      </p:sp>
      <p:sp>
        <p:nvSpPr>
          <p:cNvPr id="4" name="Rectangle 3"/>
          <p:cNvSpPr/>
          <p:nvPr/>
        </p:nvSpPr>
        <p:spPr>
          <a:xfrm>
            <a:off x="159854" y="833426"/>
            <a:ext cx="859467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36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يتحرك </a:t>
            </a:r>
            <a:r>
              <a:rPr lang="ar-SA" sz="36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خالد بسرعة 3</a:t>
            </a:r>
            <a:r>
              <a:rPr lang="en-US" sz="36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km/h </a:t>
            </a:r>
            <a:r>
              <a:rPr lang="ar-SA" sz="36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باتجاه مسجد الحي فيقطع 550</a:t>
            </a:r>
            <a:r>
              <a:rPr lang="en-US" sz="36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m </a:t>
            </a:r>
            <a:r>
              <a:rPr lang="ar-SA" sz="36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جنوبا، ثم يواصل المشي 200 </a:t>
            </a:r>
            <a:r>
              <a:rPr lang="en-US" sz="36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m </a:t>
            </a:r>
            <a:r>
              <a:rPr lang="ar-SA" sz="36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شرقا حتى يصل إلى المسجد بعد 15 دقيقة، أي الكميات الواردة في النص السابق تعد كمية قياسية ؟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464295"/>
              </p:ext>
            </p:extLst>
          </p:nvPr>
        </p:nvGraphicFramePr>
        <p:xfrm>
          <a:off x="-180528" y="3235147"/>
          <a:ext cx="8823240" cy="1439380"/>
        </p:xfrm>
        <a:graphic>
          <a:graphicData uri="http://schemas.openxmlformats.org/drawingml/2006/table">
            <a:tbl>
              <a:tblPr rtl="1" firstRow="1" firstCol="1" lastRow="1" lastCol="1" bandRow="1" bandCol="1"/>
              <a:tblGrid>
                <a:gridCol w="4411620">
                  <a:extLst>
                    <a:ext uri="{9D8B030D-6E8A-4147-A177-3AD203B41FA5}">
                      <a16:colId xmlns:a16="http://schemas.microsoft.com/office/drawing/2014/main" val="752893052"/>
                    </a:ext>
                  </a:extLst>
                </a:gridCol>
                <a:gridCol w="4411620">
                  <a:extLst>
                    <a:ext uri="{9D8B030D-6E8A-4147-A177-3AD203B41FA5}">
                      <a16:colId xmlns:a16="http://schemas.microsoft.com/office/drawing/2014/main" val="2903886774"/>
                    </a:ext>
                  </a:extLst>
                </a:gridCol>
              </a:tblGrid>
              <a:tr h="71969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 </a:t>
                      </a:r>
                      <a:r>
                        <a:rPr lang="en-US" sz="32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)</a:t>
                      </a:r>
                      <a:r>
                        <a:rPr lang="ar-EG" sz="3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32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3 km/h </a:t>
                      </a:r>
                      <a:r>
                        <a:rPr lang="ar-EG" sz="3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باتجاه المسجد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3200" b="1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lang="ar-EG" sz="32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)</a:t>
                      </a:r>
                      <a:r>
                        <a:rPr lang="ar-EG" sz="3200" b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32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550 m </a:t>
                      </a:r>
                      <a:r>
                        <a:rPr lang="ar-EG" sz="3200" b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باتجاه الجنوب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4007821"/>
                  </a:ext>
                </a:extLst>
              </a:tr>
              <a:tr h="71969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3200" b="1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lang="ar-EG" sz="32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)</a:t>
                      </a:r>
                      <a:r>
                        <a:rPr lang="ar-EG" sz="3200" b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32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200 m </a:t>
                      </a:r>
                      <a:r>
                        <a:rPr lang="ar-EG" sz="3200" b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باتجاه الشرق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 </a:t>
                      </a:r>
                      <a:r>
                        <a:rPr lang="en-US" sz="32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</a:t>
                      </a: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 )</a:t>
                      </a:r>
                      <a:r>
                        <a:rPr lang="ar-EG" sz="3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32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15 </a:t>
                      </a:r>
                      <a:r>
                        <a:rPr lang="ar-EG" sz="3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دقيقة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493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874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2252717" y="6234885"/>
            <a:ext cx="4678580" cy="40687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منصة اجتياز التعليمية  /   </a:t>
            </a:r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</a:rPr>
              <a:t>0536109848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9369" y="5581912"/>
            <a:ext cx="1146998" cy="1224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52" y="5545908"/>
            <a:ext cx="1152128" cy="12961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مستطيل مستدير الزوايا 2"/>
          <p:cNvSpPr/>
          <p:nvPr/>
        </p:nvSpPr>
        <p:spPr>
          <a:xfrm>
            <a:off x="6931297" y="288228"/>
            <a:ext cx="2034830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التحصيلي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53270" y="288228"/>
            <a:ext cx="1899447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قسم الفيزياء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3114874" y="288228"/>
            <a:ext cx="3024336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مدخل </a:t>
            </a:r>
            <a:r>
              <a:rPr lang="ar-SA" sz="2800" b="1" dirty="0" smtClean="0"/>
              <a:t>إلى </a:t>
            </a:r>
            <a:r>
              <a:rPr lang="ar-SA" sz="2800" b="1" dirty="0" smtClean="0"/>
              <a:t>علم الفيزياء</a:t>
            </a:r>
            <a:endParaRPr lang="ar-SA" sz="2800" b="1" dirty="0"/>
          </a:p>
        </p:txBody>
      </p:sp>
      <p:sp>
        <p:nvSpPr>
          <p:cNvPr id="5" name="Rectangle 4"/>
          <p:cNvSpPr/>
          <p:nvPr/>
        </p:nvSpPr>
        <p:spPr>
          <a:xfrm>
            <a:off x="9872" y="1080316"/>
            <a:ext cx="898309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 </a:t>
            </a:r>
            <a:r>
              <a:rPr lang="ar-EG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النظام الدولي يرمز </a:t>
            </a:r>
            <a:r>
              <a:rPr lang="ar-EG" sz="4400" b="1" dirty="0" smtClean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له</a:t>
            </a:r>
            <a:r>
              <a:rPr lang="ar-SA" sz="4400" b="1" dirty="0" smtClean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 </a:t>
            </a:r>
            <a:r>
              <a:rPr lang="ar-EG" sz="4400" b="1" dirty="0" smtClean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- </a:t>
            </a:r>
            <a:r>
              <a:rPr lang="ar-EG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اختصارا - بالرمز</a:t>
            </a:r>
            <a:r>
              <a:rPr lang="en-US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 ...</a:t>
            </a:r>
            <a:endParaRPr lang="ar-SA" sz="4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435907"/>
              </p:ext>
            </p:extLst>
          </p:nvPr>
        </p:nvGraphicFramePr>
        <p:xfrm>
          <a:off x="726891" y="2072359"/>
          <a:ext cx="7200800" cy="1313308"/>
        </p:xfrm>
        <a:graphic>
          <a:graphicData uri="http://schemas.openxmlformats.org/drawingml/2006/table">
            <a:tbl>
              <a:tblPr rtl="1" firstRow="1" firstCol="1" lastRow="1" lastCol="1" bandRow="1" bandCol="1"/>
              <a:tblGrid>
                <a:gridCol w="3600400">
                  <a:extLst>
                    <a:ext uri="{9D8B030D-6E8A-4147-A177-3AD203B41FA5}">
                      <a16:colId xmlns:a16="http://schemas.microsoft.com/office/drawing/2014/main" val="4109614860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2532289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40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4000" b="1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lang="ar-EG" sz="40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)</a:t>
                      </a:r>
                      <a:r>
                        <a:rPr lang="en-US" sz="40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ar-EG" sz="40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4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SI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40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4000" b="1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lang="ar-EG" sz="40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)</a:t>
                      </a:r>
                      <a:r>
                        <a:rPr lang="ar-EG" sz="4000" b="1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4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MI 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749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40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4000" b="1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lang="ar-EG" sz="40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)</a:t>
                      </a:r>
                      <a:r>
                        <a:rPr lang="en-US" sz="40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ar-EG" sz="40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4000" b="1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Tr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40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4000" b="1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</a:t>
                      </a:r>
                      <a:r>
                        <a:rPr lang="ar-EG" sz="40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)</a:t>
                      </a:r>
                      <a:r>
                        <a:rPr lang="en-US" sz="40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ar-EG" sz="40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4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GI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0836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49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2269684" y="6207305"/>
            <a:ext cx="4678580" cy="40687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منصة اجتياز التعليمية  /   </a:t>
            </a:r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</a:rPr>
              <a:t>0536109848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5554332"/>
            <a:ext cx="1146998" cy="1224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19" y="5518328"/>
            <a:ext cx="1152128" cy="12961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مستطيل مستدير الزوايا 2"/>
          <p:cNvSpPr/>
          <p:nvPr/>
        </p:nvSpPr>
        <p:spPr>
          <a:xfrm>
            <a:off x="6948264" y="260648"/>
            <a:ext cx="2034830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التحصيلي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260648"/>
            <a:ext cx="1899447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قسم الفيزياء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3131841" y="260648"/>
            <a:ext cx="3024336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مدخل </a:t>
            </a:r>
            <a:r>
              <a:rPr lang="ar-SA" sz="2800" b="1" dirty="0" smtClean="0"/>
              <a:t>إلى </a:t>
            </a:r>
            <a:r>
              <a:rPr lang="ar-SA" sz="2800" b="1" dirty="0" smtClean="0"/>
              <a:t>علم الفيزياء</a:t>
            </a:r>
            <a:endParaRPr lang="ar-SA" sz="2800" b="1" dirty="0"/>
          </a:p>
        </p:txBody>
      </p:sp>
      <p:sp>
        <p:nvSpPr>
          <p:cNvPr id="5" name="Rectangle 4"/>
          <p:cNvSpPr/>
          <p:nvPr/>
        </p:nvSpPr>
        <p:spPr>
          <a:xfrm>
            <a:off x="533749" y="1052736"/>
            <a:ext cx="822052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 </a:t>
            </a:r>
            <a:r>
              <a:rPr lang="ar-EG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وحدة الطول في النظام الدولي للوحدات </a:t>
            </a:r>
            <a:r>
              <a:rPr lang="en-US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(SI)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877938"/>
              </p:ext>
            </p:extLst>
          </p:nvPr>
        </p:nvGraphicFramePr>
        <p:xfrm>
          <a:off x="107504" y="2034413"/>
          <a:ext cx="8494380" cy="1049528"/>
        </p:xfrm>
        <a:graphic>
          <a:graphicData uri="http://schemas.openxmlformats.org/drawingml/2006/table">
            <a:tbl>
              <a:tblPr rtl="1" firstRow="1" firstCol="1" lastRow="1" lastCol="1" bandRow="1" bandCol="1"/>
              <a:tblGrid>
                <a:gridCol w="4247190">
                  <a:extLst>
                    <a:ext uri="{9D8B030D-6E8A-4147-A177-3AD203B41FA5}">
                      <a16:colId xmlns:a16="http://schemas.microsoft.com/office/drawing/2014/main" val="821453725"/>
                    </a:ext>
                  </a:extLst>
                </a:gridCol>
                <a:gridCol w="4247190">
                  <a:extLst>
                    <a:ext uri="{9D8B030D-6E8A-4147-A177-3AD203B41FA5}">
                      <a16:colId xmlns:a16="http://schemas.microsoft.com/office/drawing/2014/main" val="9092753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3200" b="1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lang="ar-EG" sz="32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) </a:t>
                      </a:r>
                      <a:r>
                        <a:rPr lang="en-US" sz="32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cm  </a:t>
                      </a:r>
                      <a:r>
                        <a:rPr lang="ar-SA" sz="32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ar-EG" sz="32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سنتيمتر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3200" b="1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lang="ar-EG" sz="32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) </a:t>
                      </a:r>
                      <a:r>
                        <a:rPr lang="en-US" sz="32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m </a:t>
                      </a:r>
                      <a:r>
                        <a:rPr lang="ar-SA" sz="32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ar-EG" sz="32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متر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94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3200" b="1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lang="ar-EG" sz="32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) </a:t>
                      </a:r>
                      <a:r>
                        <a:rPr lang="en-US" sz="32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km </a:t>
                      </a:r>
                      <a:r>
                        <a:rPr lang="ar-SA" sz="32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ar-EG" sz="32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کیل</a:t>
                      </a:r>
                      <a:r>
                        <a:rPr lang="en-US" sz="32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ar-EG" sz="32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ومتر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3200" b="1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</a:t>
                      </a:r>
                      <a:r>
                        <a:rPr lang="ar-EG" sz="32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)</a:t>
                      </a:r>
                      <a:r>
                        <a:rPr lang="ar-EG" sz="3200" b="1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mm  </a:t>
                      </a:r>
                      <a:r>
                        <a:rPr lang="ar-SA" sz="32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ar-EG" sz="32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مليمتر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3030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2298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2269684" y="6207305"/>
            <a:ext cx="4678580" cy="40687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منصة اجتياز التعليمية  /   </a:t>
            </a:r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</a:rPr>
              <a:t>0536109848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5554332"/>
            <a:ext cx="1146998" cy="1224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19" y="5518328"/>
            <a:ext cx="1152128" cy="12961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مستطيل مستدير الزوايا 2"/>
          <p:cNvSpPr/>
          <p:nvPr/>
        </p:nvSpPr>
        <p:spPr>
          <a:xfrm>
            <a:off x="6948264" y="260648"/>
            <a:ext cx="2034830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التحصيلي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260648"/>
            <a:ext cx="1899447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قسم الفيزياء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3131841" y="260648"/>
            <a:ext cx="3024336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مدخل </a:t>
            </a:r>
            <a:r>
              <a:rPr lang="ar-SA" sz="2800" b="1" dirty="0" smtClean="0"/>
              <a:t>إلى </a:t>
            </a:r>
            <a:r>
              <a:rPr lang="ar-SA" sz="2800" b="1" dirty="0" smtClean="0"/>
              <a:t>علم الفيزياء</a:t>
            </a:r>
            <a:endParaRPr lang="ar-SA" sz="2800" b="1" dirty="0"/>
          </a:p>
        </p:txBody>
      </p:sp>
      <p:sp>
        <p:nvSpPr>
          <p:cNvPr id="5" name="Rectangle 4"/>
          <p:cNvSpPr/>
          <p:nvPr/>
        </p:nvSpPr>
        <p:spPr>
          <a:xfrm>
            <a:off x="388418" y="908720"/>
            <a:ext cx="843205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 </a:t>
            </a:r>
            <a:r>
              <a:rPr lang="ar-EG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أي الوحدات التالية وحدة لكمية أساسية حسب النظام الدولي ؟</a:t>
            </a:r>
            <a:endParaRPr lang="ar-SA" sz="4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884172"/>
              </p:ext>
            </p:extLst>
          </p:nvPr>
        </p:nvGraphicFramePr>
        <p:xfrm>
          <a:off x="726157" y="2355270"/>
          <a:ext cx="7443678" cy="1261872"/>
        </p:xfrm>
        <a:graphic>
          <a:graphicData uri="http://schemas.openxmlformats.org/drawingml/2006/table">
            <a:tbl>
              <a:tblPr rtl="1" firstRow="1" firstCol="1" lastRow="1" lastCol="1" bandRow="1" bandCol="1"/>
              <a:tblGrid>
                <a:gridCol w="3721839">
                  <a:extLst>
                    <a:ext uri="{9D8B030D-6E8A-4147-A177-3AD203B41FA5}">
                      <a16:colId xmlns:a16="http://schemas.microsoft.com/office/drawing/2014/main" val="2134341551"/>
                    </a:ext>
                  </a:extLst>
                </a:gridCol>
                <a:gridCol w="3721839">
                  <a:extLst>
                    <a:ext uri="{9D8B030D-6E8A-4147-A177-3AD203B41FA5}">
                      <a16:colId xmlns:a16="http://schemas.microsoft.com/office/drawing/2014/main" val="28081704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 </a:t>
                      </a:r>
                      <a:r>
                        <a:rPr lang="en-US" sz="36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lang="ar-EG" sz="3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 ) </a:t>
                      </a:r>
                      <a:r>
                        <a:rPr lang="ar-EG" sz="3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الفولت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3600" b="1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lang="ar-EG" sz="36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) </a:t>
                      </a:r>
                      <a:r>
                        <a:rPr lang="ar-EG" sz="3600" b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الأمبير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5615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36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lang="ar-EG" sz="3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) </a:t>
                      </a:r>
                      <a:r>
                        <a:rPr lang="ar-EG" sz="3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الأوم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 </a:t>
                      </a:r>
                      <a:r>
                        <a:rPr lang="en-US" sz="36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</a:t>
                      </a:r>
                      <a:r>
                        <a:rPr lang="ar-EG" sz="3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 ) </a:t>
                      </a:r>
                      <a:r>
                        <a:rPr lang="ar-EG" sz="3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التسلا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463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7640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2269684" y="6207305"/>
            <a:ext cx="4678580" cy="40687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منصة اجتياز التعليمية  /   </a:t>
            </a:r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</a:rPr>
              <a:t>0536109848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5554332"/>
            <a:ext cx="1146998" cy="1224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19" y="5518328"/>
            <a:ext cx="1152128" cy="12961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مستطيل مستدير الزوايا 2"/>
          <p:cNvSpPr/>
          <p:nvPr/>
        </p:nvSpPr>
        <p:spPr>
          <a:xfrm>
            <a:off x="6948264" y="260648"/>
            <a:ext cx="2034830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التحصيلي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260648"/>
            <a:ext cx="1899447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قسم الفيزياء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3131841" y="260648"/>
            <a:ext cx="3024336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مدخل </a:t>
            </a:r>
            <a:r>
              <a:rPr lang="ar-SA" sz="2800" b="1" dirty="0" smtClean="0"/>
              <a:t>إلى </a:t>
            </a:r>
            <a:r>
              <a:rPr lang="ar-SA" sz="2800" b="1" dirty="0" smtClean="0"/>
              <a:t>علم الفيزياء</a:t>
            </a:r>
            <a:endParaRPr lang="ar-SA" sz="2800" b="1" dirty="0"/>
          </a:p>
        </p:txBody>
      </p:sp>
      <p:sp>
        <p:nvSpPr>
          <p:cNvPr id="5" name="Rectangle 4"/>
          <p:cNvSpPr/>
          <p:nvPr/>
        </p:nvSpPr>
        <p:spPr>
          <a:xfrm>
            <a:off x="899592" y="1124744"/>
            <a:ext cx="748883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 </a:t>
            </a:r>
            <a:r>
              <a:rPr lang="ar-EG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أي الكميات الفيزيائية التالية يُقاس بوحدة كاندلا</a:t>
            </a:r>
            <a:r>
              <a:rPr lang="en-US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 (cd)</a:t>
            </a:r>
            <a:r>
              <a:rPr lang="ar-EG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؟</a:t>
            </a:r>
            <a:endParaRPr lang="ar-SA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539081"/>
              </p:ext>
            </p:extLst>
          </p:nvPr>
        </p:nvGraphicFramePr>
        <p:xfrm>
          <a:off x="548855" y="2571294"/>
          <a:ext cx="7416824" cy="1433772"/>
        </p:xfrm>
        <a:graphic>
          <a:graphicData uri="http://schemas.openxmlformats.org/drawingml/2006/table">
            <a:tbl>
              <a:tblPr rtl="1" firstRow="1" firstCol="1" lastRow="1" lastCol="1" bandRow="1" bandCol="1"/>
              <a:tblGrid>
                <a:gridCol w="3708412">
                  <a:extLst>
                    <a:ext uri="{9D8B030D-6E8A-4147-A177-3AD203B41FA5}">
                      <a16:colId xmlns:a16="http://schemas.microsoft.com/office/drawing/2014/main" val="3792240400"/>
                    </a:ext>
                  </a:extLst>
                </a:gridCol>
                <a:gridCol w="3708412">
                  <a:extLst>
                    <a:ext uri="{9D8B030D-6E8A-4147-A177-3AD203B41FA5}">
                      <a16:colId xmlns:a16="http://schemas.microsoft.com/office/drawing/2014/main" val="2494584183"/>
                    </a:ext>
                  </a:extLst>
                </a:gridCol>
              </a:tblGrid>
              <a:tr h="716886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 </a:t>
                      </a:r>
                      <a:r>
                        <a:rPr lang="en-US" sz="32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 ) </a:t>
                      </a:r>
                      <a:r>
                        <a:rPr lang="ar-EG" sz="3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شدة الإضاءة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3200" b="1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lang="ar-EG" sz="32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) </a:t>
                      </a:r>
                      <a:r>
                        <a:rPr lang="ar-EG" sz="3200" b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التدفق الضوئي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4111477"/>
                  </a:ext>
                </a:extLst>
              </a:tr>
              <a:tr h="716886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32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) </a:t>
                      </a:r>
                      <a:r>
                        <a:rPr lang="ar-EG" sz="3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الاستضاءة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 </a:t>
                      </a:r>
                      <a:r>
                        <a:rPr lang="en-US" sz="32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</a:t>
                      </a: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 ) </a:t>
                      </a:r>
                      <a:r>
                        <a:rPr lang="ar-EG" sz="3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الشفافية الضوئية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2260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562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2269684" y="6207305"/>
            <a:ext cx="4678580" cy="40687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منصة اجتياز التعليمية  / </a:t>
            </a:r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</a:rPr>
              <a:t>0536109848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5554332"/>
            <a:ext cx="1146998" cy="1224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19" y="5518328"/>
            <a:ext cx="1152128" cy="12961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مستطيل مستدير الزوايا 2"/>
          <p:cNvSpPr/>
          <p:nvPr/>
        </p:nvSpPr>
        <p:spPr>
          <a:xfrm>
            <a:off x="6948264" y="260648"/>
            <a:ext cx="2034830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التحصيلي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260648"/>
            <a:ext cx="1899447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قسم الفيزياء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3131841" y="260648"/>
            <a:ext cx="3024336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مدخل إلى علم الفيزياء</a:t>
            </a:r>
            <a:endParaRPr lang="ar-SA" sz="2800" b="1" dirty="0"/>
          </a:p>
        </p:txBody>
      </p:sp>
      <p:sp>
        <p:nvSpPr>
          <p:cNvPr id="5" name="Rectangle 4"/>
          <p:cNvSpPr/>
          <p:nvPr/>
        </p:nvSpPr>
        <p:spPr>
          <a:xfrm>
            <a:off x="971600" y="1052736"/>
            <a:ext cx="763284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 </a:t>
            </a:r>
            <a:r>
              <a:rPr lang="ar-EG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أي الكميات الفيزيائية التالية كمية فيزيائية مشتقة ؟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195046"/>
              </p:ext>
            </p:extLst>
          </p:nvPr>
        </p:nvGraphicFramePr>
        <p:xfrm>
          <a:off x="1475656" y="2499285"/>
          <a:ext cx="6768752" cy="1284930"/>
        </p:xfrm>
        <a:graphic>
          <a:graphicData uri="http://schemas.openxmlformats.org/drawingml/2006/table">
            <a:tbl>
              <a:tblPr rtl="1" firstRow="1" firstCol="1" lastRow="1" lastCol="1" bandRow="1" bandCol="1"/>
              <a:tblGrid>
                <a:gridCol w="3384376">
                  <a:extLst>
                    <a:ext uri="{9D8B030D-6E8A-4147-A177-3AD203B41FA5}">
                      <a16:colId xmlns:a16="http://schemas.microsoft.com/office/drawing/2014/main" val="225999048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1399193226"/>
                    </a:ext>
                  </a:extLst>
                </a:gridCol>
              </a:tblGrid>
              <a:tr h="642465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 </a:t>
                      </a:r>
                      <a:r>
                        <a:rPr lang="en-US" sz="32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 ) </a:t>
                      </a:r>
                      <a:r>
                        <a:rPr lang="ar-EG" sz="3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شدة التيار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3200" b="1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lang="ar-EG" sz="32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) </a:t>
                      </a:r>
                      <a:r>
                        <a:rPr lang="ar-EG" sz="3200" b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فرق الجهد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410748"/>
                  </a:ext>
                </a:extLst>
              </a:tr>
              <a:tr h="642465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32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) </a:t>
                      </a:r>
                      <a:r>
                        <a:rPr lang="ar-EG" sz="3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الزمن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 </a:t>
                      </a:r>
                      <a:r>
                        <a:rPr lang="en-US" sz="32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</a:t>
                      </a: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 ) </a:t>
                      </a:r>
                      <a:r>
                        <a:rPr lang="ar-EG" sz="3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شدة الإضاءة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3502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216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2269684" y="6207305"/>
            <a:ext cx="4678580" cy="40687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منصة اجتياز التعليمية  / </a:t>
            </a:r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</a:rPr>
              <a:t>0536109848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5554332"/>
            <a:ext cx="1146998" cy="1224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19" y="5518328"/>
            <a:ext cx="1152128" cy="12961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مستطيل مستدير الزوايا 2"/>
          <p:cNvSpPr/>
          <p:nvPr/>
        </p:nvSpPr>
        <p:spPr>
          <a:xfrm>
            <a:off x="6948264" y="260648"/>
            <a:ext cx="2034830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التحصيلي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260648"/>
            <a:ext cx="1899447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قسم الفيزياء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3131841" y="260648"/>
            <a:ext cx="3024336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مدخل إلى علم الفيزياء</a:t>
            </a:r>
            <a:endParaRPr lang="ar-SA" sz="2800" b="1" dirty="0"/>
          </a:p>
        </p:txBody>
      </p:sp>
      <p:sp>
        <p:nvSpPr>
          <p:cNvPr id="4" name="Rectangle 3"/>
          <p:cNvSpPr/>
          <p:nvPr/>
        </p:nvSpPr>
        <p:spPr>
          <a:xfrm>
            <a:off x="964483" y="1052736"/>
            <a:ext cx="712879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 </a:t>
            </a:r>
            <a:r>
              <a:rPr lang="ar-EG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إذا كان الطول كمية أساسية فإن المساحة </a:t>
            </a:r>
            <a:r>
              <a:rPr lang="ar-EG" sz="4400" b="1" dirty="0" smtClean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كمية</a:t>
            </a:r>
            <a:r>
              <a:rPr lang="en-US" sz="4400" b="1" dirty="0" smtClean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....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312531"/>
              </p:ext>
            </p:extLst>
          </p:nvPr>
        </p:nvGraphicFramePr>
        <p:xfrm>
          <a:off x="358087" y="2479906"/>
          <a:ext cx="7632848" cy="1248926"/>
        </p:xfrm>
        <a:graphic>
          <a:graphicData uri="http://schemas.openxmlformats.org/drawingml/2006/table">
            <a:tbl>
              <a:tblPr rtl="1" firstRow="1" firstCol="1" lastRow="1" lastCol="1" bandRow="1" bandCol="1"/>
              <a:tblGrid>
                <a:gridCol w="3816424">
                  <a:extLst>
                    <a:ext uri="{9D8B030D-6E8A-4147-A177-3AD203B41FA5}">
                      <a16:colId xmlns:a16="http://schemas.microsoft.com/office/drawing/2014/main" val="1509105168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3175550663"/>
                    </a:ext>
                  </a:extLst>
                </a:gridCol>
              </a:tblGrid>
              <a:tr h="624463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 </a:t>
                      </a:r>
                      <a:r>
                        <a:rPr lang="en-US" sz="32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 ) </a:t>
                      </a:r>
                      <a:r>
                        <a:rPr lang="ar-EG" sz="3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أساسية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3200" b="1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lang="ar-EG" sz="32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) </a:t>
                      </a:r>
                      <a:r>
                        <a:rPr lang="ar-EG" sz="3200" b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أصلية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534502"/>
                  </a:ext>
                </a:extLst>
              </a:tr>
              <a:tr h="624463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3200" b="1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lang="ar-EG" sz="32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) </a:t>
                      </a:r>
                      <a:r>
                        <a:rPr lang="ar-EG" sz="3200" b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مشتقة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 </a:t>
                      </a:r>
                      <a:r>
                        <a:rPr lang="en-US" sz="32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</a:t>
                      </a: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 ) </a:t>
                      </a:r>
                      <a:r>
                        <a:rPr lang="ar-EG" sz="3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محايدة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8132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249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2269684" y="6207305"/>
            <a:ext cx="4678580" cy="40687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منصة اجتياز التعليمية  </a:t>
            </a:r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/  </a:t>
            </a:r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</a:rPr>
              <a:t>0536109848  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5554332"/>
            <a:ext cx="1146998" cy="1224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19" y="5518328"/>
            <a:ext cx="1152128" cy="12961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مستطيل مستدير الزوايا 2"/>
          <p:cNvSpPr/>
          <p:nvPr/>
        </p:nvSpPr>
        <p:spPr>
          <a:xfrm>
            <a:off x="6948264" y="260648"/>
            <a:ext cx="2034830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التحصيلي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260648"/>
            <a:ext cx="1899447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قسم الفيزياء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3131841" y="260648"/>
            <a:ext cx="3024336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مدخل إلى علم الفيزياء</a:t>
            </a:r>
            <a:endParaRPr lang="ar-SA" sz="2800" b="1" dirty="0"/>
          </a:p>
        </p:txBody>
      </p:sp>
      <p:sp>
        <p:nvSpPr>
          <p:cNvPr id="4" name="Rectangle 3"/>
          <p:cNvSpPr/>
          <p:nvPr/>
        </p:nvSpPr>
        <p:spPr>
          <a:xfrm>
            <a:off x="370237" y="980729"/>
            <a:ext cx="816220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 </a:t>
            </a:r>
            <a:r>
              <a:rPr lang="ar-EG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إذاعة على موجة ترددها 6 ميجا هرتز، وهذا يعني أن التردد بالهرتز</a:t>
            </a:r>
            <a:r>
              <a:rPr lang="en-US" sz="4400" b="1" dirty="0">
                <a:latin typeface="Calibri" panose="020F0502020204030204" pitchFamily="34" charset="0"/>
                <a:ea typeface="SimSun" panose="02010600030101010101" pitchFamily="2" charset="-122"/>
              </a:rPr>
              <a:t> ...</a:t>
            </a:r>
            <a:endParaRPr lang="ar-SA" sz="4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744758"/>
              </p:ext>
            </p:extLst>
          </p:nvPr>
        </p:nvGraphicFramePr>
        <p:xfrm>
          <a:off x="-396552" y="2446638"/>
          <a:ext cx="8136904" cy="1050672"/>
        </p:xfrm>
        <a:graphic>
          <a:graphicData uri="http://schemas.openxmlformats.org/drawingml/2006/table">
            <a:tbl>
              <a:tblPr rtl="1" firstRow="1" firstCol="1" lastRow="1" lastCol="1" bandRow="1" bandCol="1"/>
              <a:tblGrid>
                <a:gridCol w="4068452">
                  <a:extLst>
                    <a:ext uri="{9D8B030D-6E8A-4147-A177-3AD203B41FA5}">
                      <a16:colId xmlns:a16="http://schemas.microsoft.com/office/drawing/2014/main" val="3113757967"/>
                    </a:ext>
                  </a:extLst>
                </a:gridCol>
                <a:gridCol w="4068452">
                  <a:extLst>
                    <a:ext uri="{9D8B030D-6E8A-4147-A177-3AD203B41FA5}">
                      <a16:colId xmlns:a16="http://schemas.microsoft.com/office/drawing/2014/main" val="3850946657"/>
                    </a:ext>
                  </a:extLst>
                </a:gridCol>
              </a:tblGrid>
              <a:tr h="500861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ar-EG" sz="3200" b="1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3200" b="1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lang="ar-EG" sz="32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) </a:t>
                      </a:r>
                      <a:r>
                        <a:rPr lang="en-US" sz="32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6 x 10 </a:t>
                      </a:r>
                      <a:r>
                        <a:rPr lang="en-US" sz="3200" b="1" baseline="300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3200" b="1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lang="ar-EG" sz="32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) </a:t>
                      </a:r>
                      <a:r>
                        <a:rPr lang="en-US" sz="32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6 x 10 </a:t>
                      </a:r>
                      <a:r>
                        <a:rPr lang="en-US" sz="3200" b="1" baseline="300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4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881196"/>
                  </a:ext>
                </a:extLst>
              </a:tr>
              <a:tr h="500861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3200" b="1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lang="ar-EG" sz="32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) </a:t>
                      </a:r>
                      <a:r>
                        <a:rPr lang="en-US" sz="32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6 x 10 </a:t>
                      </a:r>
                      <a:r>
                        <a:rPr lang="en-US" sz="3200" b="1" baseline="300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6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3200" b="1" dirty="0" smtClean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</a:t>
                      </a:r>
                      <a:r>
                        <a:rPr lang="ar-EG" sz="3200" b="1" dirty="0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) </a:t>
                      </a:r>
                      <a:r>
                        <a:rPr lang="en-US" sz="32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6 x 10 </a:t>
                      </a:r>
                      <a:r>
                        <a:rPr lang="en-US" sz="3200" b="1" baseline="300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9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27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93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2269684" y="6207305"/>
            <a:ext cx="4678580" cy="40687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منصة اجتياز التعليمية  /   </a:t>
            </a:r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</a:rPr>
              <a:t>0536109848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5554332"/>
            <a:ext cx="1146998" cy="1224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19" y="5518328"/>
            <a:ext cx="1152128" cy="12961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مستطيل مستدير الزوايا 2"/>
          <p:cNvSpPr/>
          <p:nvPr/>
        </p:nvSpPr>
        <p:spPr>
          <a:xfrm>
            <a:off x="6948264" y="260648"/>
            <a:ext cx="2034830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التحصيلي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260648"/>
            <a:ext cx="1899447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قسم الفيزياء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3131841" y="260648"/>
            <a:ext cx="3024336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مدخل إلى علم الفيزياء</a:t>
            </a:r>
            <a:endParaRPr lang="ar-SA" sz="2800" b="1" dirty="0"/>
          </a:p>
        </p:txBody>
      </p:sp>
      <p:sp>
        <p:nvSpPr>
          <p:cNvPr id="4" name="Rectangle 3"/>
          <p:cNvSpPr/>
          <p:nvPr/>
        </p:nvSpPr>
        <p:spPr>
          <a:xfrm>
            <a:off x="388419" y="1052737"/>
            <a:ext cx="7927997" cy="1440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 </a:t>
            </a:r>
            <a:r>
              <a:rPr lang="ar-EG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شرب أحمد </a:t>
            </a:r>
            <a:r>
              <a:rPr lang="en-US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3</a:t>
            </a:r>
            <a:r>
              <a:rPr lang="ar-EG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 ديسيلتر حليب، وهذا يعني أن الكمية التي شربها باللتر</a:t>
            </a:r>
            <a:r>
              <a:rPr lang="en-US" sz="4400" b="1" dirty="0">
                <a:solidFill>
                  <a:srgbClr val="0070C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 ....</a:t>
            </a:r>
            <a:endParaRPr lang="ar-SA" sz="4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878606"/>
              </p:ext>
            </p:extLst>
          </p:nvPr>
        </p:nvGraphicFramePr>
        <p:xfrm>
          <a:off x="341141" y="2528848"/>
          <a:ext cx="7560840" cy="1121664"/>
        </p:xfrm>
        <a:graphic>
          <a:graphicData uri="http://schemas.openxmlformats.org/drawingml/2006/table">
            <a:tbl>
              <a:tblPr rtl="1" firstRow="1" firstCol="1" lastRow="1" lastCol="1" bandRow="1" bandCol="1"/>
              <a:tblGrid>
                <a:gridCol w="3780420">
                  <a:extLst>
                    <a:ext uri="{9D8B030D-6E8A-4147-A177-3AD203B41FA5}">
                      <a16:colId xmlns:a16="http://schemas.microsoft.com/office/drawing/2014/main" val="2611885679"/>
                    </a:ext>
                  </a:extLst>
                </a:gridCol>
                <a:gridCol w="3780420">
                  <a:extLst>
                    <a:ext uri="{9D8B030D-6E8A-4147-A177-3AD203B41FA5}">
                      <a16:colId xmlns:a16="http://schemas.microsoft.com/office/drawing/2014/main" val="3449487563"/>
                    </a:ext>
                  </a:extLst>
                </a:gridCol>
              </a:tblGrid>
              <a:tr h="468052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ar-EG" sz="3200" b="1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(  </a:t>
                      </a:r>
                      <a:r>
                        <a:rPr lang="en-US" sz="3200" b="1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lang="ar-EG" sz="32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 ) </a:t>
                      </a:r>
                      <a:r>
                        <a:rPr lang="en-US" sz="32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3200" b="1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lang="ar-EG" sz="32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) </a:t>
                      </a:r>
                      <a:r>
                        <a:rPr lang="en-US" sz="32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180858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32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)</a:t>
                      </a:r>
                      <a:r>
                        <a:rPr lang="ar-EG" sz="3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32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0.003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 </a:t>
                      </a:r>
                      <a:r>
                        <a:rPr lang="en-US" sz="32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</a:t>
                      </a:r>
                      <a:r>
                        <a:rPr lang="ar-EG" sz="32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 ) </a:t>
                      </a:r>
                      <a:r>
                        <a:rPr lang="en-US" sz="32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0.0003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378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820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2269684" y="6257585"/>
            <a:ext cx="4678580" cy="40687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منصة اجتياز التعليمية  /   </a:t>
            </a:r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</a:rPr>
              <a:t>0569782667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5604612"/>
            <a:ext cx="1146998" cy="1224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19" y="5568608"/>
            <a:ext cx="1152128" cy="12961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مستطيل مستدير الزوايا 2"/>
          <p:cNvSpPr/>
          <p:nvPr/>
        </p:nvSpPr>
        <p:spPr>
          <a:xfrm>
            <a:off x="6948264" y="310928"/>
            <a:ext cx="2034830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التحصيلي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310928"/>
            <a:ext cx="1899447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قسم الفيزياء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3131841" y="310928"/>
            <a:ext cx="3024336" cy="4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مدخل إلى علم الفيزياء</a:t>
            </a:r>
            <a:endParaRPr lang="ar-SA" sz="2800" b="1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31952" y="1124744"/>
            <a:ext cx="8195894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4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0.003 F   </a:t>
            </a:r>
            <a:r>
              <a:rPr kumimoji="0" lang="ar-SA" altLang="zh-CN" sz="4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kumimoji="0" lang="ar-EG" altLang="zh-CN" sz="4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تعادل</a:t>
            </a:r>
            <a:r>
              <a:rPr kumimoji="0" lang="en-US" altLang="zh-CN" sz="4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............</a:t>
            </a:r>
            <a:r>
              <a:rPr kumimoji="0" lang="en-US" altLang="zh-CN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318728"/>
              </p:ext>
            </p:extLst>
          </p:nvPr>
        </p:nvGraphicFramePr>
        <p:xfrm>
          <a:off x="899592" y="2005734"/>
          <a:ext cx="7177980" cy="1351258"/>
        </p:xfrm>
        <a:graphic>
          <a:graphicData uri="http://schemas.openxmlformats.org/drawingml/2006/table">
            <a:tbl>
              <a:tblPr rtl="1" firstRow="1" firstCol="1" lastRow="1" lastCol="1" bandRow="1" bandCol="1"/>
              <a:tblGrid>
                <a:gridCol w="3588990">
                  <a:extLst>
                    <a:ext uri="{9D8B030D-6E8A-4147-A177-3AD203B41FA5}">
                      <a16:colId xmlns:a16="http://schemas.microsoft.com/office/drawing/2014/main" val="349695414"/>
                    </a:ext>
                  </a:extLst>
                </a:gridCol>
                <a:gridCol w="3588990">
                  <a:extLst>
                    <a:ext uri="{9D8B030D-6E8A-4147-A177-3AD203B41FA5}">
                      <a16:colId xmlns:a16="http://schemas.microsoft.com/office/drawing/2014/main" val="2807766184"/>
                    </a:ext>
                  </a:extLst>
                </a:gridCol>
              </a:tblGrid>
              <a:tr h="675629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 </a:t>
                      </a:r>
                      <a:r>
                        <a:rPr lang="en-US" sz="36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lang="ar-EG" sz="3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 ) </a:t>
                      </a:r>
                      <a:r>
                        <a:rPr lang="en-US" sz="36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3 </a:t>
                      </a:r>
                      <a:r>
                        <a:rPr lang="en-US" sz="3600" b="1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dF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3600" b="1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lang="ar-EG" sz="36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) </a:t>
                      </a:r>
                      <a:r>
                        <a:rPr lang="en-US" sz="36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3 mF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2180560"/>
                  </a:ext>
                </a:extLst>
              </a:tr>
              <a:tr h="675629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</a:t>
                      </a:r>
                      <a:r>
                        <a:rPr lang="en-US" sz="36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C</a:t>
                      </a:r>
                      <a:r>
                        <a:rPr lang="ar-EG" sz="3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) </a:t>
                      </a:r>
                      <a:r>
                        <a:rPr lang="en-US" sz="36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3 </a:t>
                      </a:r>
                      <a:r>
                        <a:rPr lang="en-US" sz="3600" b="1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kF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(  </a:t>
                      </a:r>
                      <a:r>
                        <a:rPr lang="en-US" sz="3600" b="1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</a:t>
                      </a:r>
                      <a:r>
                        <a:rPr lang="ar-EG" sz="3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  ) </a:t>
                      </a:r>
                      <a:r>
                        <a:rPr lang="en-US" sz="36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3 MF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651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7149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8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590" y="1124744"/>
            <a:ext cx="4464496" cy="42484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4973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سمة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سمة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سمة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2955</TotalTime>
  <Words>780</Words>
  <Application>Microsoft Office PowerPoint</Application>
  <PresentationFormat>On-screen Show (4:3)</PresentationFormat>
  <Paragraphs>156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SimSun</vt:lpstr>
      <vt:lpstr>SimSun</vt:lpstr>
      <vt:lpstr>Arial</vt:lpstr>
      <vt:lpstr>Calibri</vt:lpstr>
      <vt:lpstr>Times New Roman</vt:lpstr>
      <vt:lpstr>سمة Office</vt:lpstr>
      <vt:lpstr>1_سمة Office</vt:lpstr>
      <vt:lpstr>2_سمة Office</vt:lpstr>
      <vt:lpstr>Equation.3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Saad</dc:creator>
  <cp:lastModifiedBy>D.BASSEM</cp:lastModifiedBy>
  <cp:revision>192</cp:revision>
  <dcterms:created xsi:type="dcterms:W3CDTF">2022-08-21T03:48:08Z</dcterms:created>
  <dcterms:modified xsi:type="dcterms:W3CDTF">2024-11-17T19:08:58Z</dcterms:modified>
</cp:coreProperties>
</file>